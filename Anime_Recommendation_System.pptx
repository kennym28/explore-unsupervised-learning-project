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2" r:id="rId3"/>
    <p:sldId id="257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4" r:id="rId22"/>
    <p:sldId id="275" r:id="rId23"/>
    <p:sldId id="276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9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0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226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756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149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667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416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9748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231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292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5366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9676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3991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6846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1848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2991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993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449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B0E92-7225-4EC8-B0F9-20F70F2E33E8}" type="datetimeFigureOut">
              <a:rPr lang="en-ZA" smtClean="0"/>
              <a:t>2025/04/14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A556A-2817-49E7-A77B-BE0D34E095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662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github.com/KennyM28/Explore-Unsupervised-Learning-Project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dirty="0" smtClean="0">
                <a:solidFill>
                  <a:schemeClr val="accent2"/>
                </a:solidFill>
                <a:latin typeface="Arial Rounded MT Bold" panose="020F0704030504030204" pitchFamily="34" charset="0"/>
              </a:rPr>
              <a:t>Anime Recommendation System</a:t>
            </a:r>
            <a:endParaRPr lang="en-ZA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  <a:latin typeface="Arial Black" panose="020B0A04020102020204" pitchFamily="34" charset="0"/>
              </a:rPr>
              <a:t>Collaborative and Content-Based Filtering Approaches</a:t>
            </a:r>
            <a:endParaRPr lang="en-ZA" dirty="0">
              <a:solidFill>
                <a:schemeClr val="accent2"/>
              </a:solidFill>
              <a:latin typeface="Arial Black" panose="020B0A04020102020204" pitchFamily="34" charset="0"/>
            </a:endParaRPr>
          </a:p>
          <a:p>
            <a:endParaRPr lang="en-ZA" dirty="0"/>
          </a:p>
        </p:txBody>
      </p:sp>
      <p:pic>
        <p:nvPicPr>
          <p:cNvPr id="1026" name="Picture 2" descr="Fairy Tail new series key visual (A1 Pictures/Bridge) : r/an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329629"/>
            <a:ext cx="3712253" cy="252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-1 Pictures - Companies - MyAnimeList.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200" y="0"/>
            <a:ext cx="2082800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29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Information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Group Members:</a:t>
            </a:r>
          </a:p>
          <a:p>
            <a:pPr lvl="1"/>
            <a:r>
              <a:rPr lang="en-ZA" dirty="0">
                <a:solidFill>
                  <a:schemeClr val="accent2"/>
                </a:solidFill>
              </a:rPr>
              <a:t>Kennety Mashishi</a:t>
            </a:r>
          </a:p>
          <a:p>
            <a:pPr lvl="1"/>
            <a:r>
              <a:rPr lang="en-ZA" dirty="0">
                <a:solidFill>
                  <a:schemeClr val="accent2"/>
                </a:solidFill>
              </a:rPr>
              <a:t>Wanga Maswime</a:t>
            </a:r>
          </a:p>
          <a:p>
            <a:pPr lvl="1"/>
            <a:r>
              <a:rPr lang="en-ZA" dirty="0">
                <a:solidFill>
                  <a:schemeClr val="accent2"/>
                </a:solidFill>
              </a:rPr>
              <a:t>Nokulinda Mthimunye</a:t>
            </a:r>
          </a:p>
          <a:p>
            <a:pPr lvl="1"/>
            <a:r>
              <a:rPr lang="en-ZA" dirty="0">
                <a:solidFill>
                  <a:schemeClr val="accent2"/>
                </a:solidFill>
              </a:rPr>
              <a:t>Gabamoitse Keefelakae</a:t>
            </a:r>
          </a:p>
          <a:p>
            <a:pPr marL="457200" lvl="1" indent="0">
              <a:buNone/>
            </a:pPr>
            <a:endParaRPr lang="en-ZA" dirty="0"/>
          </a:p>
          <a:p>
            <a:r>
              <a:rPr lang="en-ZA" dirty="0" smtClean="0">
                <a:solidFill>
                  <a:schemeClr val="accent2"/>
                </a:solidFill>
              </a:rPr>
              <a:t>Git Repo </a:t>
            </a:r>
            <a:r>
              <a:rPr lang="en-ZA" dirty="0">
                <a:solidFill>
                  <a:schemeClr val="accent2"/>
                </a:solidFill>
              </a:rPr>
              <a:t>: </a:t>
            </a:r>
            <a:r>
              <a:rPr lang="en-ZA" dirty="0">
                <a:hlinkClick r:id="rId2"/>
              </a:rPr>
              <a:t>https://</a:t>
            </a:r>
            <a:r>
              <a:rPr lang="en-ZA" dirty="0" smtClean="0">
                <a:hlinkClick r:id="rId2"/>
              </a:rPr>
              <a:t>github.com/KennyM28/Explore-Unsupervised-Learning-Project.git</a:t>
            </a:r>
            <a:endParaRPr lang="en-ZA" dirty="0" smtClean="0"/>
          </a:p>
          <a:p>
            <a:r>
              <a:rPr lang="en-ZA" dirty="0">
                <a:solidFill>
                  <a:schemeClr val="accent2"/>
                </a:solidFill>
              </a:rPr>
              <a:t>Trello board: </a:t>
            </a:r>
            <a:r>
              <a:rPr lang="en-ZA" dirty="0">
                <a:hlinkClick r:id="rId3" action="ppaction://hlinksldjump"/>
              </a:rPr>
              <a:t>https://trello.com/b/Cz8p74XY/unsupervised-learning-project</a:t>
            </a:r>
            <a:endParaRPr lang="en-ZA" dirty="0"/>
          </a:p>
          <a:p>
            <a:endParaRPr lang="en-ZA" dirty="0" smtClean="0"/>
          </a:p>
        </p:txBody>
      </p:sp>
    </p:spTree>
    <p:extLst>
      <p:ext uri="{BB962C8B-B14F-4D97-AF65-F5344CB8AC3E}">
        <p14:creationId xmlns:p14="http://schemas.microsoft.com/office/powerpoint/2010/main" val="245921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solidFill>
                  <a:schemeClr val="accent2"/>
                </a:solidFill>
              </a:rPr>
              <a:t>Problem Statement</a:t>
            </a:r>
            <a:endParaRPr lang="en-ZA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 smtClean="0">
                <a:solidFill>
                  <a:schemeClr val="accent2"/>
                </a:solidFill>
              </a:rPr>
              <a:t>Why</a:t>
            </a:r>
            <a:r>
              <a:rPr lang="en-ZA" dirty="0" smtClean="0">
                <a:solidFill>
                  <a:schemeClr val="accent2"/>
                </a:solidFill>
              </a:rPr>
              <a:t>: We aim to build an anime recommendation system to help users discover titles tailored to their interest. </a:t>
            </a:r>
          </a:p>
          <a:p>
            <a:r>
              <a:rPr lang="en-ZA" b="1" dirty="0" smtClean="0">
                <a:solidFill>
                  <a:schemeClr val="accent2"/>
                </a:solidFill>
              </a:rPr>
              <a:t>The Value</a:t>
            </a:r>
            <a:r>
              <a:rPr lang="en-ZA" dirty="0" smtClean="0">
                <a:solidFill>
                  <a:schemeClr val="accent2"/>
                </a:solidFill>
              </a:rPr>
              <a:t>: Personalised recommendations save users time and improve their viewing experience.</a:t>
            </a:r>
          </a:p>
          <a:p>
            <a:r>
              <a:rPr lang="en-ZA" b="1" dirty="0" smtClean="0">
                <a:solidFill>
                  <a:schemeClr val="accent2"/>
                </a:solidFill>
              </a:rPr>
              <a:t>Challenges:</a:t>
            </a:r>
            <a:endParaRPr lang="en-ZA" dirty="0" smtClean="0">
              <a:solidFill>
                <a:schemeClr val="accent2"/>
              </a:solidFill>
            </a:endParaRPr>
          </a:p>
          <a:p>
            <a:pPr lvl="1"/>
            <a:r>
              <a:rPr lang="en-ZA" dirty="0" smtClean="0">
                <a:solidFill>
                  <a:schemeClr val="accent2"/>
                </a:solidFill>
              </a:rPr>
              <a:t>Sparse user ratings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</a:rPr>
              <a:t>Large anime catalogue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</a:rPr>
              <a:t>Diverse user preferences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6108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solidFill>
                  <a:schemeClr val="accent2"/>
                </a:solidFill>
              </a:rPr>
              <a:t>Data set Overview</a:t>
            </a:r>
            <a:endParaRPr lang="en-ZA" b="1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Data Source: 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anime.csv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Shape : 12, 294 rows × 7 columns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Key columns [anime_id, name, genre, type, episodes, rating , members]</a:t>
            </a:r>
          </a:p>
          <a:p>
            <a:pPr marL="914400" lvl="2" indent="0">
              <a:buNone/>
            </a:pP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56" y="3848177"/>
            <a:ext cx="8884887" cy="23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3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327025"/>
            <a:ext cx="10515600" cy="1325563"/>
          </a:xfrm>
        </p:spPr>
        <p:txBody>
          <a:bodyPr/>
          <a:lstStyle/>
          <a:p>
            <a:r>
              <a:rPr lang="en-ZA" b="1" dirty="0" smtClean="0">
                <a:solidFill>
                  <a:schemeClr val="accent2"/>
                </a:solidFill>
              </a:rPr>
              <a:t>Data Set Overview</a:t>
            </a:r>
            <a:endParaRPr lang="en-ZA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ZA" dirty="0" smtClean="0">
                <a:solidFill>
                  <a:schemeClr val="accent2"/>
                </a:solidFill>
              </a:rPr>
              <a:t>train.csv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Shape : 5703555 rows × 3 columns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Key columns [user_id, anime_id, rating]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272" y="3459835"/>
            <a:ext cx="3384428" cy="266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smtClean="0">
                <a:solidFill>
                  <a:schemeClr val="accent2"/>
                </a:solidFill>
              </a:rPr>
              <a:t>Initial Observations</a:t>
            </a:r>
            <a:endParaRPr lang="en-ZA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The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episode</a:t>
            </a:r>
            <a:r>
              <a:rPr lang="en-ZA" dirty="0" smtClean="0">
                <a:solidFill>
                  <a:schemeClr val="accent2"/>
                </a:solidFill>
              </a:rPr>
              <a:t> column is stored as an object, it might contain non-numeric values like “Unknown”.</a:t>
            </a:r>
          </a:p>
          <a:p>
            <a:r>
              <a:rPr lang="en-ZA" dirty="0" smtClean="0">
                <a:solidFill>
                  <a:schemeClr val="accent2"/>
                </a:solidFill>
              </a:rPr>
              <a:t>The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genre</a:t>
            </a:r>
            <a:r>
              <a:rPr lang="en-ZA" dirty="0" smtClean="0">
                <a:solidFill>
                  <a:schemeClr val="accent2"/>
                </a:solidFill>
              </a:rPr>
              <a:t> column is a string but actually encodes multiple labels.</a:t>
            </a:r>
          </a:p>
          <a:p>
            <a:r>
              <a:rPr lang="en-ZA" dirty="0" smtClean="0">
                <a:solidFill>
                  <a:schemeClr val="accent2"/>
                </a:solidFill>
              </a:rPr>
              <a:t>The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rating</a:t>
            </a:r>
            <a:r>
              <a:rPr lang="en-ZA" dirty="0" smtClean="0">
                <a:solidFill>
                  <a:schemeClr val="accent2"/>
                </a:solidFill>
              </a:rPr>
              <a:t> and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en-ZA" dirty="0" smtClean="0">
                <a:solidFill>
                  <a:schemeClr val="accent2"/>
                </a:solidFill>
              </a:rPr>
              <a:t> columns could be helpful as popularity/quality indicators.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5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Data Cleaning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4705972"/>
          </a:xfrm>
        </p:spPr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anime.csv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</a:rPr>
              <a:t>Missing values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Genre(62), type(25), and rating(230) had missing values.</a:t>
            </a:r>
          </a:p>
          <a:p>
            <a:pPr lvl="2"/>
            <a:r>
              <a:rPr lang="en-ZA" dirty="0" smtClean="0">
                <a:solidFill>
                  <a:schemeClr val="accent2"/>
                </a:solidFill>
              </a:rPr>
              <a:t>Filled using mode for simplicity and consistency.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</a:rPr>
              <a:t>Applied regex to clean special characters and normalise whitespace in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</a:t>
            </a:r>
            <a:r>
              <a:rPr lang="en-ZA" dirty="0" smtClean="0">
                <a:solidFill>
                  <a:schemeClr val="accent2"/>
                </a:solidFill>
              </a:rPr>
              <a:t> and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genre. </a:t>
            </a:r>
            <a:r>
              <a:rPr lang="en-ZA" dirty="0" smtClean="0">
                <a:solidFill>
                  <a:schemeClr val="accent2"/>
                </a:solidFill>
              </a:rPr>
              <a:t>For example changing Gintama&amp;#039; to Gintama039.</a:t>
            </a:r>
          </a:p>
          <a:p>
            <a:pPr lvl="1"/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Before:</a:t>
            </a:r>
          </a:p>
          <a:p>
            <a:pPr lvl="1"/>
            <a:endParaRPr lang="en-ZA" dirty="0" smtClean="0">
              <a:solidFill>
                <a:schemeClr val="accent2"/>
              </a:solidFill>
            </a:endParaRPr>
          </a:p>
          <a:p>
            <a:pPr lvl="1"/>
            <a:endParaRPr lang="en-ZA" dirty="0" smtClean="0">
              <a:solidFill>
                <a:schemeClr val="accent2"/>
              </a:solidFill>
            </a:endParaRPr>
          </a:p>
          <a:p>
            <a:pPr marL="914400" lvl="2" indent="0">
              <a:buNone/>
            </a:pPr>
            <a:endParaRPr lang="en-ZA" dirty="0" smtClean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305" y="4386013"/>
            <a:ext cx="9509390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2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Data Cleaning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After: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68" y="2570169"/>
            <a:ext cx="9227793" cy="26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8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Feature Engineering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Genre Processing: </a:t>
            </a:r>
            <a:r>
              <a:rPr lang="en-ZA" dirty="0" smtClean="0">
                <a:solidFill>
                  <a:schemeClr val="accent2"/>
                </a:solidFill>
              </a:rPr>
              <a:t>Converted </a:t>
            </a:r>
            <a:r>
              <a:rPr lang="en-ZA" dirty="0" smtClean="0">
                <a:solidFill>
                  <a:schemeClr val="accent2"/>
                </a:solidFill>
              </a:rPr>
              <a:t>the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genre</a:t>
            </a:r>
            <a:r>
              <a:rPr lang="en-ZA" dirty="0" smtClean="0">
                <a:solidFill>
                  <a:schemeClr val="accent2"/>
                </a:solidFill>
              </a:rPr>
              <a:t> string into a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genre_list</a:t>
            </a:r>
            <a:r>
              <a:rPr lang="en-ZA" dirty="0" smtClean="0">
                <a:solidFill>
                  <a:schemeClr val="accent2"/>
                </a:solidFill>
              </a:rPr>
              <a:t> to allow for easier genre-level analysis.</a:t>
            </a:r>
          </a:p>
          <a:p>
            <a:r>
              <a:rPr lang="en-ZA" dirty="0" smtClean="0">
                <a:solidFill>
                  <a:schemeClr val="accent2"/>
                </a:solidFill>
              </a:rPr>
              <a:t>  Popularity Binning: Transformed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en-ZA" dirty="0" smtClean="0">
                <a:solidFill>
                  <a:schemeClr val="accent2"/>
                </a:solidFill>
              </a:rPr>
              <a:t> (for popularity) into ordinal bins. This helps group anime to levels like </a:t>
            </a:r>
            <a:r>
              <a:rPr lang="en-ZA" i="1" dirty="0" smtClean="0">
                <a:solidFill>
                  <a:schemeClr val="accent2"/>
                </a:solidFill>
              </a:rPr>
              <a:t>Very </a:t>
            </a:r>
            <a:r>
              <a:rPr lang="en-ZA" i="1" dirty="0">
                <a:solidFill>
                  <a:schemeClr val="accent2"/>
                </a:solidFill>
              </a:rPr>
              <a:t>L</a:t>
            </a:r>
            <a:r>
              <a:rPr lang="en-ZA" i="1" dirty="0" smtClean="0">
                <a:solidFill>
                  <a:schemeClr val="accent2"/>
                </a:solidFill>
              </a:rPr>
              <a:t>ow </a:t>
            </a:r>
            <a:r>
              <a:rPr lang="en-ZA" dirty="0" smtClean="0">
                <a:solidFill>
                  <a:schemeClr val="accent2"/>
                </a:solidFill>
              </a:rPr>
              <a:t>and </a:t>
            </a:r>
            <a:r>
              <a:rPr lang="en-ZA" i="1" dirty="0" smtClean="0">
                <a:solidFill>
                  <a:schemeClr val="accent2"/>
                </a:solidFill>
              </a:rPr>
              <a:t>Very </a:t>
            </a:r>
            <a:r>
              <a:rPr lang="en-ZA" i="1" dirty="0">
                <a:solidFill>
                  <a:schemeClr val="accent2"/>
                </a:solidFill>
              </a:rPr>
              <a:t>H</a:t>
            </a:r>
            <a:r>
              <a:rPr lang="en-ZA" i="1" dirty="0" smtClean="0">
                <a:solidFill>
                  <a:schemeClr val="accent2"/>
                </a:solidFill>
              </a:rPr>
              <a:t>igh</a:t>
            </a:r>
            <a:r>
              <a:rPr lang="en-ZA" dirty="0" smtClean="0">
                <a:solidFill>
                  <a:schemeClr val="accent2"/>
                </a:solidFill>
              </a:rPr>
              <a:t>. 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91" y="3919223"/>
            <a:ext cx="10278909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7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Exploratory Data Analysis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 smtClean="0">
                <a:solidFill>
                  <a:schemeClr val="accent2"/>
                </a:solidFill>
              </a:rPr>
              <a:t>Title Analysis: Used </a:t>
            </a:r>
            <a:r>
              <a:rPr lang="en-ZA" dirty="0" err="1" smtClean="0">
                <a:solidFill>
                  <a:schemeClr val="accent2"/>
                </a:solidFill>
              </a:rPr>
              <a:t>WordCloud</a:t>
            </a:r>
            <a:r>
              <a:rPr lang="en-ZA" dirty="0" smtClean="0">
                <a:solidFill>
                  <a:schemeClr val="accent2"/>
                </a:solidFill>
              </a:rPr>
              <a:t> to visualise frequent words in anime titles.</a:t>
            </a:r>
          </a:p>
          <a:p>
            <a:r>
              <a:rPr lang="en-ZA" dirty="0" smtClean="0">
                <a:solidFill>
                  <a:schemeClr val="accent2"/>
                </a:solidFill>
              </a:rPr>
              <a:t>These were the results that we got</a:t>
            </a:r>
            <a:endParaRPr lang="en-ZA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94" y="3241813"/>
            <a:ext cx="7188185" cy="327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04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Top 10 Most Popular Anime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Sorted by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en-ZA" dirty="0" smtClean="0">
                <a:solidFill>
                  <a:schemeClr val="accent2"/>
                </a:solidFill>
              </a:rPr>
              <a:t>. Used to showcase the anime with the highest audience.</a:t>
            </a:r>
          </a:p>
          <a:p>
            <a:endParaRPr lang="en-ZA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48" y="2597378"/>
            <a:ext cx="9307224" cy="40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9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Top 10 Highest Rated Anime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Sorted by </a:t>
            </a:r>
            <a:r>
              <a:rPr lang="en-ZA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rating</a:t>
            </a:r>
            <a:r>
              <a:rPr lang="en-ZA" dirty="0" smtClean="0">
                <a:solidFill>
                  <a:schemeClr val="accent2"/>
                </a:solidFill>
              </a:rPr>
              <a:t>. Highlights critically loved shows.</a:t>
            </a:r>
            <a:endParaRPr lang="en-ZA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47" y="2647805"/>
            <a:ext cx="9354856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Distribution Analysis</a:t>
            </a:r>
            <a:endParaRPr lang="en-ZA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870" y="1690688"/>
            <a:ext cx="5950226" cy="408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3896" y="1974574"/>
            <a:ext cx="47972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2"/>
                </a:solidFill>
              </a:rPr>
              <a:t>The ratings follow a normal distribution(centered around 5.7 and 6.7)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2"/>
                </a:solidFill>
              </a:rPr>
              <a:t>Most anime are rated between 5 and 8. This suggest users tend to rate anime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2"/>
                </a:solidFill>
              </a:rPr>
              <a:t>The number of members is heavily right-skewed. Most anime have relatively </a:t>
            </a:r>
            <a:r>
              <a:rPr lang="en-US" sz="2000" dirty="0">
                <a:solidFill>
                  <a:schemeClr val="accent2"/>
                </a:solidFill>
              </a:rPr>
              <a:t>few </a:t>
            </a:r>
            <a:r>
              <a:rPr lang="en-US" sz="2000" dirty="0" smtClean="0">
                <a:solidFill>
                  <a:schemeClr val="accent2"/>
                </a:solidFill>
              </a:rPr>
              <a:t>members, while </a:t>
            </a:r>
            <a:r>
              <a:rPr lang="en-US" sz="2000" dirty="0">
                <a:solidFill>
                  <a:schemeClr val="accent2"/>
                </a:solidFill>
              </a:rPr>
              <a:t>a small number of titles have extremely high </a:t>
            </a:r>
            <a:r>
              <a:rPr lang="en-US" sz="2000" dirty="0" smtClean="0">
                <a:solidFill>
                  <a:schemeClr val="accent2"/>
                </a:solidFill>
              </a:rPr>
              <a:t>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</a:rPr>
              <a:t>Indicates </a:t>
            </a:r>
            <a:r>
              <a:rPr lang="en-US" sz="2000" b="1" dirty="0">
                <a:solidFill>
                  <a:schemeClr val="accent2"/>
                </a:solidFill>
              </a:rPr>
              <a:t>a few blockbusters</a:t>
            </a:r>
            <a:r>
              <a:rPr lang="en-US" sz="2000" dirty="0">
                <a:solidFill>
                  <a:schemeClr val="accent2"/>
                </a:solidFill>
              </a:rPr>
              <a:t> dominate in terms of community size or following.</a:t>
            </a:r>
            <a:endParaRPr lang="en-ZA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41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Distribution Analysis By Type</a:t>
            </a:r>
            <a:endParaRPr lang="en-ZA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417" y="2078860"/>
            <a:ext cx="5668166" cy="35533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91130" y="2319130"/>
            <a:ext cx="4462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The most dominant </a:t>
            </a:r>
            <a:r>
              <a:rPr lang="en-US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en-US" dirty="0" smtClean="0">
                <a:solidFill>
                  <a:schemeClr val="accent2"/>
                </a:solidFill>
              </a:rPr>
              <a:t> is TV, OVA, and MOVIE. The rest have a low count.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44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Distribution Analysis By Popularity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193"/>
          <a:stretch/>
        </p:blipFill>
        <p:spPr>
          <a:xfrm>
            <a:off x="1019923" y="2096064"/>
            <a:ext cx="5725324" cy="3761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1374" y="2239617"/>
            <a:ext cx="4293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Our feature engineering part did not do a lot of difference as we can see that the categories in the popularity column all have the same count.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Rating Distribution By Anime Type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70" y="1825625"/>
            <a:ext cx="5801139" cy="3715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7879" y="2040835"/>
            <a:ext cx="42671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TV anime tend to have the highest and consistent ratings (median closed to 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Movies shows a wider spread bust still have relatively high medians.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OVAs and Specials have lower median ratings and more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Music and ONA types generally receive lower ratings and more outliers.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97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Top 20 Most Common Genres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396"/>
            <a:ext cx="6925642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95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Average Ratings By Genre</a:t>
            </a:r>
            <a:endParaRPr lang="en-ZA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306695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1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solidFill>
                  <a:schemeClr val="accent2"/>
                </a:solidFill>
              </a:rPr>
              <a:t>Rating Distribution By Popularity Level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146852"/>
            <a:ext cx="6630325" cy="3467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46504" y="2146852"/>
            <a:ext cx="35250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As popularity increases, the median rating also increases.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This suggests that more popular anime tend to be better rated or vice versa - better rated anime attracts more viewers.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Very low and Low popularity show wider variability and more outliers.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Very high popularity anime have tighter distributions with higher medians and fewer low-rating outliers.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176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Modeling: Collaborative Filtering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Approach: KNN-based User-Filtering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Steps: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Merge anime metadata with user ratings.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Create user-item utility matrix.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Fit KNN model on sparse matrix.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Recommend items rated based on similar ratings.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458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Utility Matrix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The utility matrix contain the past purchase behavior or ratings for each individual user and product combination. Here were chose the first 100 customers to evaluate their ratings for certain </a:t>
            </a:r>
            <a:r>
              <a:rPr lang="en-US" sz="2000" dirty="0" err="1" smtClean="0">
                <a:solidFill>
                  <a:schemeClr val="accent2"/>
                </a:solidFill>
              </a:rPr>
              <a:t>animes</a:t>
            </a:r>
            <a:r>
              <a:rPr lang="en-US" sz="2000" dirty="0" smtClean="0">
                <a:solidFill>
                  <a:schemeClr val="accent2"/>
                </a:solidFill>
              </a:rPr>
              <a:t>.</a:t>
            </a:r>
            <a:endParaRPr lang="en-ZA" sz="2000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7" y="3388116"/>
            <a:ext cx="7078063" cy="309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95861" y="3458817"/>
            <a:ext cx="3538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Most of the </a:t>
            </a:r>
            <a:r>
              <a:rPr lang="en-US" dirty="0" err="1" smtClean="0">
                <a:solidFill>
                  <a:schemeClr val="accent2"/>
                </a:solidFill>
              </a:rPr>
              <a:t>animes</a:t>
            </a:r>
            <a:r>
              <a:rPr lang="en-US" dirty="0" smtClean="0">
                <a:solidFill>
                  <a:schemeClr val="accent2"/>
                </a:solidFill>
              </a:rPr>
              <a:t> have a rating that is above 5.0 . This shows that quality most of the time is considered for a show to be recommended.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963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KNN Recommendation Flow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sp>
        <p:nvSpPr>
          <p:cNvPr id="4" name="Rounded Rectangle 3"/>
          <p:cNvSpPr/>
          <p:nvPr/>
        </p:nvSpPr>
        <p:spPr>
          <a:xfrm>
            <a:off x="1086678" y="2888974"/>
            <a:ext cx="2941983" cy="18553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accent2"/>
                </a:solidFill>
              </a:rPr>
              <a:t>Get user rating vector</a:t>
            </a:r>
            <a:endParaRPr lang="en-ZA" sz="2800" dirty="0">
              <a:solidFill>
                <a:schemeClr val="accent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49247" y="2888974"/>
            <a:ext cx="2941983" cy="18553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accent2"/>
                </a:solidFill>
              </a:rPr>
              <a:t>Find similar users via cosine similarity</a:t>
            </a:r>
            <a:endParaRPr lang="en-ZA" sz="2800" dirty="0">
              <a:solidFill>
                <a:schemeClr val="accent2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43024" y="2716143"/>
            <a:ext cx="2941983" cy="21733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accent2"/>
                </a:solidFill>
              </a:rPr>
              <a:t>Recommend anime highly rated by nearest neighbors</a:t>
            </a:r>
            <a:endParaRPr lang="en-ZA" sz="2800" dirty="0">
              <a:solidFill>
                <a:schemeClr val="accent2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146707" y="3591543"/>
            <a:ext cx="478302" cy="450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ight Arrow 7"/>
          <p:cNvSpPr/>
          <p:nvPr/>
        </p:nvSpPr>
        <p:spPr>
          <a:xfrm>
            <a:off x="7812372" y="3512030"/>
            <a:ext cx="478302" cy="450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0709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KNN Recommendation Output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We created </a:t>
            </a:r>
            <a:r>
              <a:rPr lang="en-US" sz="2000" dirty="0">
                <a:solidFill>
                  <a:schemeClr val="accent2"/>
                </a:solidFill>
              </a:rPr>
              <a:t>a function </a:t>
            </a:r>
            <a:r>
              <a:rPr lang="en-US" sz="2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</a:t>
            </a:r>
            <a:r>
              <a:rPr 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recommend_anime_for_user</a:t>
            </a:r>
            <a:r>
              <a:rPr 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user_id</a:t>
            </a:r>
            <a:r>
              <a:rPr 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data_pivot_temp</a:t>
            </a:r>
            <a:r>
              <a:rPr 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anime, </a:t>
            </a:r>
            <a:r>
              <a:rPr lang="en-US" sz="20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n_neighbors</a:t>
            </a:r>
            <a:r>
              <a:rPr 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=6) </a:t>
            </a:r>
            <a:endParaRPr lang="en-US" sz="20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 smtClean="0">
                <a:solidFill>
                  <a:schemeClr val="accent2"/>
                </a:solidFill>
              </a:rPr>
              <a:t>Recommends </a:t>
            </a:r>
            <a:r>
              <a:rPr lang="en-US" sz="2000" dirty="0">
                <a:solidFill>
                  <a:schemeClr val="accent2"/>
                </a:solidFill>
              </a:rPr>
              <a:t>anime for a specific user based on collaborative filtering using KNN</a:t>
            </a:r>
            <a:r>
              <a:rPr lang="en-US" sz="2000" dirty="0" smtClean="0">
                <a:solidFill>
                  <a:schemeClr val="accent2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accent2"/>
                </a:solidFill>
              </a:rPr>
              <a:t> Returns a </a:t>
            </a:r>
            <a:r>
              <a:rPr lang="en-US" sz="2000" dirty="0" err="1" smtClean="0">
                <a:solidFill>
                  <a:schemeClr val="accent2"/>
                </a:solidFill>
              </a:rPr>
              <a:t>DataFrame</a:t>
            </a:r>
            <a:r>
              <a:rPr lang="en-US" sz="2000" dirty="0" smtClean="0">
                <a:solidFill>
                  <a:schemeClr val="accent2"/>
                </a:solidFill>
              </a:rPr>
              <a:t> containing </a:t>
            </a:r>
            <a:r>
              <a:rPr lang="en-US" sz="2000" dirty="0">
                <a:solidFill>
                  <a:schemeClr val="accent2"/>
                </a:solidFill>
              </a:rPr>
              <a:t>anime recommendations with their distances and ratings</a:t>
            </a:r>
            <a:r>
              <a:rPr lang="en-US" sz="2000" dirty="0" smtClean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endParaRPr lang="en-ZA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784" y="3943632"/>
            <a:ext cx="4777917" cy="281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47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Modeling: Content-Based Filtering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Approach: Genre-based </a:t>
            </a:r>
            <a:r>
              <a:rPr lang="en-US" dirty="0">
                <a:solidFill>
                  <a:schemeClr val="accent2"/>
                </a:solidFill>
              </a:rPr>
              <a:t>S</a:t>
            </a:r>
            <a:r>
              <a:rPr lang="en-US" dirty="0" smtClean="0">
                <a:solidFill>
                  <a:schemeClr val="accent2"/>
                </a:solidFill>
              </a:rPr>
              <a:t>imilarity using TF-IDF</a:t>
            </a:r>
            <a:endParaRPr lang="en-ZA" dirty="0">
              <a:solidFill>
                <a:schemeClr val="accent2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Steps: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Concatenate </a:t>
            </a:r>
            <a:r>
              <a:rPr lang="en-US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</a:t>
            </a:r>
            <a:r>
              <a:rPr lang="en-US" dirty="0" smtClean="0">
                <a:solidFill>
                  <a:schemeClr val="accent2"/>
                </a:solidFill>
              </a:rPr>
              <a:t> and </a:t>
            </a:r>
            <a:r>
              <a:rPr lang="en-US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genre</a:t>
            </a:r>
            <a:r>
              <a:rPr lang="en-US" dirty="0" smtClean="0">
                <a:solidFill>
                  <a:schemeClr val="accent2"/>
                </a:solidFill>
              </a:rPr>
              <a:t> as features.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Apply TF-IDF vectorizer.</a:t>
            </a:r>
          </a:p>
          <a:p>
            <a:pPr lvl="1"/>
            <a:r>
              <a:rPr lang="en-US" dirty="0" smtClean="0">
                <a:solidFill>
                  <a:schemeClr val="accent2"/>
                </a:solidFill>
              </a:rPr>
              <a:t>Compute cosine similarity between anime.</a:t>
            </a:r>
            <a:endParaRPr lang="en-Z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4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Cosine Similarity Matrix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Matrix shape: (12294, 12294)</a:t>
            </a:r>
            <a:endParaRPr lang="en-ZA" dirty="0">
              <a:solidFill>
                <a:schemeClr val="accent2"/>
              </a:solidFill>
            </a:endParaRPr>
          </a:p>
          <a:p>
            <a:r>
              <a:rPr lang="en-US" dirty="0" smtClean="0">
                <a:solidFill>
                  <a:schemeClr val="accent2"/>
                </a:solidFill>
              </a:rPr>
              <a:t>Each cell = to the similarity between two anime title.</a:t>
            </a:r>
          </a:p>
        </p:txBody>
      </p:sp>
    </p:spTree>
    <p:extLst>
      <p:ext uri="{BB962C8B-B14F-4D97-AF65-F5344CB8AC3E}">
        <p14:creationId xmlns:p14="http://schemas.microsoft.com/office/powerpoint/2010/main" val="15918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Content </a:t>
            </a:r>
            <a:r>
              <a:rPr lang="en-US" dirty="0">
                <a:solidFill>
                  <a:schemeClr val="accent2"/>
                </a:solidFill>
              </a:rPr>
              <a:t>B</a:t>
            </a:r>
            <a:r>
              <a:rPr lang="en-US" dirty="0" smtClean="0">
                <a:solidFill>
                  <a:schemeClr val="accent2"/>
                </a:solidFill>
              </a:rPr>
              <a:t>ased Recommendations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chemeClr val="accent2"/>
                </a:solidFill>
              </a:rPr>
              <a:t>We created </a:t>
            </a:r>
            <a:r>
              <a:rPr lang="en-US" sz="2400" dirty="0">
                <a:solidFill>
                  <a:schemeClr val="accent2"/>
                </a:solidFill>
              </a:rPr>
              <a:t>a function </a:t>
            </a:r>
            <a:r>
              <a:rPr lang="en-US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</a:t>
            </a:r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content_generate_top_N_recommendations</a:t>
            </a:r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anime_name</a:t>
            </a:r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N=10</a:t>
            </a:r>
            <a:r>
              <a:rPr 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2400" dirty="0" smtClean="0">
                <a:solidFill>
                  <a:schemeClr val="accent2"/>
                </a:solidFill>
              </a:rPr>
              <a:t>, it:</a:t>
            </a:r>
            <a:endParaRPr lang="en-US" sz="24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 dirty="0" smtClean="0">
                <a:solidFill>
                  <a:schemeClr val="accent2"/>
                </a:solidFill>
              </a:rPr>
              <a:t>Gets </a:t>
            </a:r>
            <a:r>
              <a:rPr lang="en-US" sz="2000" dirty="0">
                <a:solidFill>
                  <a:schemeClr val="accent2"/>
                </a:solidFill>
              </a:rPr>
              <a:t>the index of the given </a:t>
            </a:r>
            <a:r>
              <a:rPr lang="en-US" sz="2000" dirty="0" err="1" smtClean="0">
                <a:solidFill>
                  <a:schemeClr val="accent2"/>
                </a:solidFill>
              </a:rPr>
              <a:t>anime_name</a:t>
            </a:r>
            <a:r>
              <a:rPr lang="en-US" sz="2000" dirty="0" smtClean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000" dirty="0" smtClean="0">
                <a:solidFill>
                  <a:schemeClr val="accent2"/>
                </a:solidFill>
              </a:rPr>
              <a:t>Gets </a:t>
            </a:r>
            <a:r>
              <a:rPr lang="en-US" sz="2000" dirty="0">
                <a:solidFill>
                  <a:schemeClr val="accent2"/>
                </a:solidFill>
              </a:rPr>
              <a:t>the cosine similarity scores for the given </a:t>
            </a:r>
            <a:r>
              <a:rPr lang="en-US" sz="2000" dirty="0" smtClean="0">
                <a:solidFill>
                  <a:schemeClr val="accent2"/>
                </a:solidFill>
              </a:rPr>
              <a:t>anime.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Extract the indices of the recommended </a:t>
            </a:r>
            <a:r>
              <a:rPr lang="en-US" sz="2000" dirty="0" smtClean="0">
                <a:solidFill>
                  <a:schemeClr val="accent2"/>
                </a:solidFill>
              </a:rPr>
              <a:t>anime.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Return the titles of the recommended </a:t>
            </a:r>
            <a:r>
              <a:rPr lang="en-US" sz="2000" dirty="0" smtClean="0">
                <a:solidFill>
                  <a:schemeClr val="accent2"/>
                </a:solidFill>
              </a:rPr>
              <a:t>anime.</a:t>
            </a:r>
          </a:p>
          <a:p>
            <a:r>
              <a:rPr 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smtClean="0">
                <a:solidFill>
                  <a:schemeClr val="accent2"/>
                </a:solidFill>
              </a:rPr>
              <a:t>Here are the indices used :</a:t>
            </a:r>
          </a:p>
          <a:p>
            <a:pPr lvl="1"/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16" y="5004732"/>
            <a:ext cx="3933187" cy="157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21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Content Based Recommendations Output</a:t>
            </a:r>
            <a:endParaRPr lang="en-ZA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In this example output  N=10 and we used “</a:t>
            </a:r>
            <a:r>
              <a:rPr lang="en-US" sz="20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SteinsGate</a:t>
            </a:r>
            <a:r>
              <a:rPr lang="en-US" sz="2000" dirty="0" smtClean="0">
                <a:solidFill>
                  <a:schemeClr val="accent2"/>
                </a:solidFill>
              </a:rPr>
              <a:t>” in the first picture and “</a:t>
            </a:r>
            <a:r>
              <a:rPr lang="en-US" sz="20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Kimi</a:t>
            </a:r>
            <a:r>
              <a:rPr lang="en-US" sz="20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Na </a:t>
            </a:r>
            <a:r>
              <a:rPr lang="en-US" sz="20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</a:t>
            </a:r>
            <a:r>
              <a:rPr lang="en-US" sz="2000" dirty="0" smtClean="0">
                <a:solidFill>
                  <a:schemeClr val="accent2"/>
                </a:solidFill>
              </a:rPr>
              <a:t>” in the second one as indices.</a:t>
            </a:r>
          </a:p>
          <a:p>
            <a:endParaRPr lang="en-ZA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08" y="2978505"/>
            <a:ext cx="4510991" cy="3082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787" y="2978505"/>
            <a:ext cx="4077500" cy="308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56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793</TotalTime>
  <Words>888</Words>
  <Application>Microsoft Office PowerPoint</Application>
  <PresentationFormat>Widescreen</PresentationFormat>
  <Paragraphs>108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Black</vt:lpstr>
      <vt:lpstr>Arial Rounded MT Bold</vt:lpstr>
      <vt:lpstr>Bookman Old Style</vt:lpstr>
      <vt:lpstr>Rockwell</vt:lpstr>
      <vt:lpstr>Damask</vt:lpstr>
      <vt:lpstr>Anime Recommendation System</vt:lpstr>
      <vt:lpstr>Information</vt:lpstr>
      <vt:lpstr>Problem Statement</vt:lpstr>
      <vt:lpstr>Data set Overview</vt:lpstr>
      <vt:lpstr>Data Set Overview</vt:lpstr>
      <vt:lpstr>Initial Observations</vt:lpstr>
      <vt:lpstr>Data Cleaning</vt:lpstr>
      <vt:lpstr>Data Cleaning</vt:lpstr>
      <vt:lpstr>Feature Engineering</vt:lpstr>
      <vt:lpstr>Exploratory Data Analysis</vt:lpstr>
      <vt:lpstr>Top 10 Most Popular Anime</vt:lpstr>
      <vt:lpstr>Top 10 Highest Rated Anime</vt:lpstr>
      <vt:lpstr>Distribution Analysis</vt:lpstr>
      <vt:lpstr>Distribution Analysis By Type</vt:lpstr>
      <vt:lpstr>Distribution Analysis By Popularity</vt:lpstr>
      <vt:lpstr>Rating Distribution By Anime Type</vt:lpstr>
      <vt:lpstr>Top 20 Most Common Genres</vt:lpstr>
      <vt:lpstr>Average Ratings By Genre</vt:lpstr>
      <vt:lpstr>Rating Distribution By Popularity Level</vt:lpstr>
      <vt:lpstr>Modeling: Collaborative Filtering</vt:lpstr>
      <vt:lpstr>Utility Matrix</vt:lpstr>
      <vt:lpstr>KNN Recommendation Flow</vt:lpstr>
      <vt:lpstr>KNN Recommendation Output</vt:lpstr>
      <vt:lpstr>Modeling: Content-Based Filtering</vt:lpstr>
      <vt:lpstr>Cosine Similarity Matrix</vt:lpstr>
      <vt:lpstr>Content Based Recommendations</vt:lpstr>
      <vt:lpstr>Content Based Recommendations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Recommendation System</dc:title>
  <dc:creator>Nokulinda Mthimunye</dc:creator>
  <cp:lastModifiedBy>Nokulinda Mthimunye</cp:lastModifiedBy>
  <cp:revision>33</cp:revision>
  <dcterms:created xsi:type="dcterms:W3CDTF">2025-04-11T10:28:15Z</dcterms:created>
  <dcterms:modified xsi:type="dcterms:W3CDTF">2025-04-14T08:27:03Z</dcterms:modified>
</cp:coreProperties>
</file>